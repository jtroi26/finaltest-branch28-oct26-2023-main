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30"/>
    <p:sldId id="257" r:id="rId31"/>
    <p:sldId id="258" r:id="rId32"/>
    <p:sldId id="259" r:id="rId33"/>
    <p:sldId id="260" r:id="rId34"/>
    <p:sldId id="261" r:id="rId35"/>
    <p:sldId id="262" r:id="rId36"/>
    <p:sldId id="263" r:id="rId37"/>
    <p:sldId id="264" r:id="rId38"/>
    <p:sldId id="265" r:id="rId39"/>
    <p:sldId id="266" r:id="rId40"/>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AC Compacta" charset="1" panose="00000000000000000000"/>
      <p:regular r:id="rId10"/>
    </p:embeddedFont>
    <p:embeddedFont>
      <p:font typeface="AC Compacta Italics" charset="1" panose="00000000000000000000"/>
      <p:regular r:id="rId11"/>
    </p:embeddedFont>
    <p:embeddedFont>
      <p:font typeface="Canva Sans" charset="1" panose="020B0503030501040103"/>
      <p:regular r:id="rId12"/>
    </p:embeddedFont>
    <p:embeddedFont>
      <p:font typeface="Canva Sans Bold" charset="1" panose="020B0803030501040103"/>
      <p:regular r:id="rId13"/>
    </p:embeddedFont>
    <p:embeddedFont>
      <p:font typeface="Canva Sans Italics" charset="1" panose="020B0503030501040103"/>
      <p:regular r:id="rId14"/>
    </p:embeddedFont>
    <p:embeddedFont>
      <p:font typeface="Canva Sans Bold Italics" charset="1" panose="020B0803030501040103"/>
      <p:regular r:id="rId15"/>
    </p:embeddedFont>
    <p:embeddedFont>
      <p:font typeface="Canva Sans Medium" charset="1" panose="020B0603030501040103"/>
      <p:regular r:id="rId16"/>
    </p:embeddedFont>
    <p:embeddedFont>
      <p:font typeface="Canva Sans Medium Italics" charset="1" panose="020B0603030501040103"/>
      <p:regular r:id="rId17"/>
    </p:embeddedFont>
    <p:embeddedFont>
      <p:font typeface="Open Sans" charset="1" panose="00000000000000000000"/>
      <p:regular r:id="rId18"/>
    </p:embeddedFont>
    <p:embeddedFont>
      <p:font typeface="Open Sans Bold" charset="1" panose="00000000000000000000"/>
      <p:regular r:id="rId19"/>
    </p:embeddedFont>
    <p:embeddedFont>
      <p:font typeface="Open Sans Italics" charset="1" panose="00000000000000000000"/>
      <p:regular r:id="rId20"/>
    </p:embeddedFont>
    <p:embeddedFont>
      <p:font typeface="Open Sans Bold Italics" charset="1" panose="00000000000000000000"/>
      <p:regular r:id="rId21"/>
    </p:embeddedFont>
    <p:embeddedFont>
      <p:font typeface="Open Sans Light" charset="1" panose="00000000000000000000"/>
      <p:regular r:id="rId22"/>
    </p:embeddedFont>
    <p:embeddedFont>
      <p:font typeface="Open Sans Light Italics" charset="1" panose="00000000000000000000"/>
      <p:regular r:id="rId23"/>
    </p:embeddedFont>
    <p:embeddedFont>
      <p:font typeface="Open Sans Medium" charset="1" panose="00000000000000000000"/>
      <p:regular r:id="rId24"/>
    </p:embeddedFont>
    <p:embeddedFont>
      <p:font typeface="Open Sans Medium Italics" charset="1" panose="00000000000000000000"/>
      <p:regular r:id="rId25"/>
    </p:embeddedFont>
    <p:embeddedFont>
      <p:font typeface="Open Sans Semi-Bold" charset="1" panose="00000000000000000000"/>
      <p:regular r:id="rId26"/>
    </p:embeddedFont>
    <p:embeddedFont>
      <p:font typeface="Open Sans Semi-Bold Italics" charset="1" panose="00000000000000000000"/>
      <p:regular r:id="rId27"/>
    </p:embeddedFont>
    <p:embeddedFont>
      <p:font typeface="Open Sans Ultra-Bold" charset="1" panose="00000000000000000000"/>
      <p:regular r:id="rId28"/>
    </p:embeddedFont>
    <p:embeddedFont>
      <p:font typeface="Open Sans Ultra-Bold Italics"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slides/slide1.xml" Type="http://schemas.openxmlformats.org/officeDocument/2006/relationships/slide"/><Relationship Id="rId31" Target="slides/slide2.xml" Type="http://schemas.openxmlformats.org/officeDocument/2006/relationships/slide"/><Relationship Id="rId32" Target="slides/slide3.xml" Type="http://schemas.openxmlformats.org/officeDocument/2006/relationships/slide"/><Relationship Id="rId33" Target="slides/slide4.xml" Type="http://schemas.openxmlformats.org/officeDocument/2006/relationships/slide"/><Relationship Id="rId34" Target="slides/slide5.xml" Type="http://schemas.openxmlformats.org/officeDocument/2006/relationships/slide"/><Relationship Id="rId35" Target="slides/slide6.xml" Type="http://schemas.openxmlformats.org/officeDocument/2006/relationships/slide"/><Relationship Id="rId36" Target="slides/slide7.xml" Type="http://schemas.openxmlformats.org/officeDocument/2006/relationships/slide"/><Relationship Id="rId37" Target="slides/slide8.xml" Type="http://schemas.openxmlformats.org/officeDocument/2006/relationships/slide"/><Relationship Id="rId38" Target="slides/slide9.xml" Type="http://schemas.openxmlformats.org/officeDocument/2006/relationships/slide"/><Relationship Id="rId39" Target="slides/slide10.xml" Type="http://schemas.openxmlformats.org/officeDocument/2006/relationships/slide"/><Relationship Id="rId4" Target="theme/theme1.xml" Type="http://schemas.openxmlformats.org/officeDocument/2006/relationships/theme"/><Relationship Id="rId40" Target="slides/slide11.xml" Type="http://schemas.openxmlformats.org/officeDocument/2006/relationship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2303410" y="1693329"/>
            <a:ext cx="4662067" cy="8593671"/>
          </a:xfrm>
          <a:custGeom>
            <a:avLst/>
            <a:gdLst/>
            <a:ahLst/>
            <a:cxnLst/>
            <a:rect r="r" b="b" t="t" l="l"/>
            <a:pathLst>
              <a:path h="8593671" w="4662067">
                <a:moveTo>
                  <a:pt x="0" y="0"/>
                </a:moveTo>
                <a:lnTo>
                  <a:pt x="4662067" y="0"/>
                </a:lnTo>
                <a:lnTo>
                  <a:pt x="4662067" y="8593671"/>
                </a:lnTo>
                <a:lnTo>
                  <a:pt x="0" y="8593671"/>
                </a:lnTo>
                <a:lnTo>
                  <a:pt x="0" y="0"/>
                </a:lnTo>
                <a:close/>
              </a:path>
            </a:pathLst>
          </a:custGeom>
          <a:blipFill>
            <a:blip r:embed="rId3"/>
            <a:stretch>
              <a:fillRect l="0" t="0" r="0" b="0"/>
            </a:stretch>
          </a:blipFill>
        </p:spPr>
      </p:sp>
      <p:grpSp>
        <p:nvGrpSpPr>
          <p:cNvPr name="Group 4" id="4"/>
          <p:cNvGrpSpPr/>
          <p:nvPr/>
        </p:nvGrpSpPr>
        <p:grpSpPr>
          <a:xfrm rot="0">
            <a:off x="17293116" y="534081"/>
            <a:ext cx="397367" cy="28996"/>
            <a:chOff x="0" y="0"/>
            <a:chExt cx="128243" cy="9358"/>
          </a:xfrm>
        </p:grpSpPr>
        <p:sp>
          <p:nvSpPr>
            <p:cNvPr name="Freeform 5" id="5"/>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6" id="6"/>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7293116" y="626184"/>
            <a:ext cx="397367" cy="28996"/>
            <a:chOff x="0" y="0"/>
            <a:chExt cx="128243" cy="9358"/>
          </a:xfrm>
        </p:grpSpPr>
        <p:sp>
          <p:nvSpPr>
            <p:cNvPr name="Freeform 8" id="8"/>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9" id="9"/>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0">
            <a:off x="0" y="0"/>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3" id="13"/>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4" id="14"/>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5" id="15"/>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6" id="16"/>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7" id="17"/>
          <p:cNvSpPr txBox="true"/>
          <p:nvPr/>
        </p:nvSpPr>
        <p:spPr>
          <a:xfrm rot="0">
            <a:off x="1636303" y="1395413"/>
            <a:ext cx="10262227" cy="7105650"/>
          </a:xfrm>
          <a:prstGeom prst="rect">
            <a:avLst/>
          </a:prstGeom>
        </p:spPr>
        <p:txBody>
          <a:bodyPr anchor="t" rtlCol="false" tIns="0" lIns="0" bIns="0" rIns="0">
            <a:spAutoFit/>
          </a:bodyPr>
          <a:lstStyle/>
          <a:p>
            <a:pPr algn="ctr">
              <a:lnSpc>
                <a:spcPts val="28000"/>
              </a:lnSpc>
            </a:pPr>
            <a:r>
              <a:rPr lang="en-US" sz="20000">
                <a:solidFill>
                  <a:srgbClr val="01EDFF"/>
                </a:solidFill>
                <a:latin typeface="AC Compacta"/>
              </a:rPr>
              <a:t>MISP</a:t>
            </a:r>
          </a:p>
          <a:p>
            <a:pPr algn="ctr">
              <a:lnSpc>
                <a:spcPts val="13999"/>
              </a:lnSpc>
              <a:spcBef>
                <a:spcPct val="0"/>
              </a:spcBef>
            </a:pPr>
            <a:r>
              <a:rPr lang="en-US" sz="9999">
                <a:solidFill>
                  <a:srgbClr val="01EDFF"/>
                </a:solidFill>
                <a:latin typeface="AC Compacta"/>
              </a:rPr>
              <a:t>THREAT INTELLIGENCE AND INFORMATION SHARING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9039225" y="1038225"/>
            <a:ext cx="8220075" cy="8220075"/>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6350000" y="0"/>
                  </a:moveTo>
                  <a:lnTo>
                    <a:pt x="6350000" y="6350000"/>
                  </a:lnTo>
                  <a:lnTo>
                    <a:pt x="1224280" y="6350000"/>
                  </a:lnTo>
                  <a:lnTo>
                    <a:pt x="0" y="0"/>
                  </a:lnTo>
                  <a:close/>
                </a:path>
              </a:pathLst>
            </a:custGeom>
            <a:blipFill>
              <a:blip r:embed="rId3"/>
              <a:stretch>
                <a:fillRect l="-18327" t="0" r="-31766" b="0"/>
              </a:stretch>
            </a:blipFill>
          </p:spPr>
        </p:sp>
      </p:grpSp>
      <p:grpSp>
        <p:nvGrpSpPr>
          <p:cNvPr name="Group 19" id="19"/>
          <p:cNvGrpSpPr/>
          <p:nvPr/>
        </p:nvGrpSpPr>
        <p:grpSpPr>
          <a:xfrm rot="0">
            <a:off x="17499312" y="1038225"/>
            <a:ext cx="788688" cy="8220075"/>
            <a:chOff x="0" y="0"/>
            <a:chExt cx="623161" cy="6494874"/>
          </a:xfrm>
        </p:grpSpPr>
        <p:sp>
          <p:nvSpPr>
            <p:cNvPr name="Freeform 20" id="20"/>
            <p:cNvSpPr/>
            <p:nvPr/>
          </p:nvSpPr>
          <p:spPr>
            <a:xfrm flipH="false" flipV="false" rot="0">
              <a:off x="0" y="0"/>
              <a:ext cx="623161" cy="6494874"/>
            </a:xfrm>
            <a:custGeom>
              <a:avLst/>
              <a:gdLst/>
              <a:ahLst/>
              <a:cxnLst/>
              <a:rect r="r" b="b" t="t" l="l"/>
              <a:pathLst>
                <a:path h="6494874" w="623161">
                  <a:moveTo>
                    <a:pt x="0" y="0"/>
                  </a:moveTo>
                  <a:lnTo>
                    <a:pt x="623161" y="0"/>
                  </a:lnTo>
                  <a:lnTo>
                    <a:pt x="623161" y="6494874"/>
                  </a:lnTo>
                  <a:lnTo>
                    <a:pt x="0" y="6494874"/>
                  </a:lnTo>
                  <a:close/>
                </a:path>
              </a:pathLst>
            </a:custGeom>
            <a:solidFill>
              <a:srgbClr val="01EDFF"/>
            </a:solidFill>
            <a:ln cap="sq">
              <a:noFill/>
              <a:prstDash val="solid"/>
              <a:miter/>
            </a:ln>
          </p:spPr>
        </p:sp>
        <p:sp>
          <p:nvSpPr>
            <p:cNvPr name="TextBox 21" id="21"/>
            <p:cNvSpPr txBox="true"/>
            <p:nvPr/>
          </p:nvSpPr>
          <p:spPr>
            <a:xfrm>
              <a:off x="0" y="-38100"/>
              <a:ext cx="623161" cy="65329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1382008" y="2078006"/>
            <a:ext cx="7419092" cy="6064312"/>
          </a:xfrm>
          <a:prstGeom prst="rect">
            <a:avLst/>
          </a:prstGeom>
        </p:spPr>
        <p:txBody>
          <a:bodyPr anchor="t" rtlCol="false" tIns="0" lIns="0" bIns="0" rIns="0">
            <a:spAutoFit/>
          </a:bodyPr>
          <a:lstStyle/>
          <a:p>
            <a:pPr algn="just">
              <a:lnSpc>
                <a:spcPts val="4807"/>
              </a:lnSpc>
              <a:spcBef>
                <a:spcPct val="0"/>
              </a:spcBef>
            </a:pPr>
            <a:r>
              <a:rPr lang="en-US" sz="3433">
                <a:solidFill>
                  <a:srgbClr val="FFFFFF"/>
                </a:solidFill>
                <a:latin typeface="Open Sans"/>
              </a:rPr>
              <a:t>In today's cybersecurity landscape, organizations face an increasing number of threats. Leveraging threat intelligence and information sharing through MISP can significantly enhance security measures. This presentation explores the benefits and strategies for utilizing MISP in enhancing security</a:t>
            </a:r>
          </a:p>
        </p:txBody>
      </p:sp>
      <p:sp>
        <p:nvSpPr>
          <p:cNvPr name="TextBox 23" id="23"/>
          <p:cNvSpPr txBox="true"/>
          <p:nvPr/>
        </p:nvSpPr>
        <p:spPr>
          <a:xfrm rot="0">
            <a:off x="3039869" y="933450"/>
            <a:ext cx="4103370" cy="887095"/>
          </a:xfrm>
          <a:prstGeom prst="rect">
            <a:avLst/>
          </a:prstGeom>
        </p:spPr>
        <p:txBody>
          <a:bodyPr anchor="t" rtlCol="false" tIns="0" lIns="0" bIns="0" rIns="0">
            <a:spAutoFit/>
          </a:bodyPr>
          <a:lstStyle/>
          <a:p>
            <a:pPr algn="ctr">
              <a:lnSpc>
                <a:spcPts val="7279"/>
              </a:lnSpc>
            </a:pPr>
            <a:r>
              <a:rPr lang="en-US" sz="5199">
                <a:solidFill>
                  <a:srgbClr val="FFFFFF"/>
                </a:solidFill>
                <a:latin typeface="Canva Sans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2366569" y="2390444"/>
            <a:ext cx="4917050" cy="5506113"/>
            <a:chOff x="0" y="0"/>
            <a:chExt cx="6350000" cy="7110730"/>
          </a:xfrm>
        </p:grpSpPr>
        <p:sp>
          <p:nvSpPr>
            <p:cNvPr name="Freeform 18" id="18"/>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solidFill>
              <a:srgbClr val="01EDFF"/>
            </a:solidFill>
            <a:ln w="12700">
              <a:solidFill>
                <a:srgbClr val="000000"/>
              </a:solidFill>
            </a:ln>
          </p:spPr>
        </p:sp>
      </p:grpSp>
      <p:grpSp>
        <p:nvGrpSpPr>
          <p:cNvPr name="Group 19" id="19"/>
          <p:cNvGrpSpPr/>
          <p:nvPr/>
        </p:nvGrpSpPr>
        <p:grpSpPr>
          <a:xfrm rot="0">
            <a:off x="1028700" y="1028700"/>
            <a:ext cx="4917050" cy="5506113"/>
            <a:chOff x="0" y="0"/>
            <a:chExt cx="6350000" cy="7110730"/>
          </a:xfrm>
        </p:grpSpPr>
        <p:sp>
          <p:nvSpPr>
            <p:cNvPr name="Freeform 20" id="20"/>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0" t="-33785" r="0" b="0"/>
              </a:stretch>
            </a:blipFill>
          </p:spPr>
        </p:sp>
      </p:grpSp>
      <p:grpSp>
        <p:nvGrpSpPr>
          <p:cNvPr name="Group 21" id="21"/>
          <p:cNvGrpSpPr/>
          <p:nvPr/>
        </p:nvGrpSpPr>
        <p:grpSpPr>
          <a:xfrm rot="0">
            <a:off x="4321286" y="3752187"/>
            <a:ext cx="4917050" cy="5506113"/>
            <a:chOff x="0" y="0"/>
            <a:chExt cx="6350000" cy="7110730"/>
          </a:xfrm>
        </p:grpSpPr>
        <p:sp>
          <p:nvSpPr>
            <p:cNvPr name="Freeform 22" id="22"/>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3880" t="0" r="-33880" b="0"/>
              </a:stretch>
            </a:blipFill>
          </p:spPr>
        </p:sp>
      </p:grpSp>
      <p:sp>
        <p:nvSpPr>
          <p:cNvPr name="TextBox 23" id="23"/>
          <p:cNvSpPr txBox="true"/>
          <p:nvPr/>
        </p:nvSpPr>
        <p:spPr>
          <a:xfrm rot="0">
            <a:off x="11624827" y="2253369"/>
            <a:ext cx="4529838" cy="1975485"/>
          </a:xfrm>
          <a:prstGeom prst="rect">
            <a:avLst/>
          </a:prstGeom>
        </p:spPr>
        <p:txBody>
          <a:bodyPr anchor="t" rtlCol="false" tIns="0" lIns="0" bIns="0" rIns="0">
            <a:spAutoFit/>
          </a:bodyPr>
          <a:lstStyle/>
          <a:p>
            <a:pPr algn="ctr">
              <a:lnSpc>
                <a:spcPts val="7770"/>
              </a:lnSpc>
            </a:pPr>
            <a:r>
              <a:rPr lang="en-US" sz="7000">
                <a:solidFill>
                  <a:srgbClr val="01EDFF"/>
                </a:solidFill>
                <a:latin typeface="AC Compacta"/>
              </a:rPr>
              <a:t>UNDERSTANDING MISP</a:t>
            </a:r>
          </a:p>
        </p:txBody>
      </p:sp>
      <p:sp>
        <p:nvSpPr>
          <p:cNvPr name="TextBox 24" id="24"/>
          <p:cNvSpPr txBox="true"/>
          <p:nvPr/>
        </p:nvSpPr>
        <p:spPr>
          <a:xfrm rot="0">
            <a:off x="10311750" y="4705046"/>
            <a:ext cx="7155992" cy="3191511"/>
          </a:xfrm>
          <a:prstGeom prst="rect">
            <a:avLst/>
          </a:prstGeom>
        </p:spPr>
        <p:txBody>
          <a:bodyPr anchor="t" rtlCol="false" tIns="0" lIns="0" bIns="0" rIns="0">
            <a:spAutoFit/>
          </a:bodyPr>
          <a:lstStyle/>
          <a:p>
            <a:pPr algn="just">
              <a:lnSpc>
                <a:spcPts val="3639"/>
              </a:lnSpc>
              <a:spcBef>
                <a:spcPct val="0"/>
              </a:spcBef>
            </a:pPr>
            <a:r>
              <a:rPr lang="en-US" sz="2599">
                <a:solidFill>
                  <a:srgbClr val="FFFFFF"/>
                </a:solidFill>
                <a:latin typeface="Open Sans"/>
              </a:rPr>
              <a:t> MISP, or Malware Information Sharing Platform, is an open-source threat intelligence platform designed to facilitate the sharing of structured threat information. It enables organizations to collaborate and exchange indicators of compromise and other threat data in a standardized format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2366569" y="2390444"/>
            <a:ext cx="4917050" cy="5506113"/>
            <a:chOff x="0" y="0"/>
            <a:chExt cx="6350000" cy="7110730"/>
          </a:xfrm>
        </p:grpSpPr>
        <p:sp>
          <p:nvSpPr>
            <p:cNvPr name="Freeform 18" id="18"/>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solidFill>
              <a:srgbClr val="01EDFF"/>
            </a:solidFill>
            <a:ln w="12700">
              <a:solidFill>
                <a:srgbClr val="000000"/>
              </a:solidFill>
            </a:ln>
          </p:spPr>
        </p:sp>
      </p:grpSp>
      <p:grpSp>
        <p:nvGrpSpPr>
          <p:cNvPr name="Group 19" id="19"/>
          <p:cNvGrpSpPr/>
          <p:nvPr/>
        </p:nvGrpSpPr>
        <p:grpSpPr>
          <a:xfrm rot="0">
            <a:off x="1028700" y="1028700"/>
            <a:ext cx="4917050" cy="5506113"/>
            <a:chOff x="0" y="0"/>
            <a:chExt cx="6350000" cy="7110730"/>
          </a:xfrm>
        </p:grpSpPr>
        <p:sp>
          <p:nvSpPr>
            <p:cNvPr name="Freeform 20" id="20"/>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3"/>
              <a:stretch>
                <a:fillRect l="0" t="-33785" r="0" b="0"/>
              </a:stretch>
            </a:blipFill>
          </p:spPr>
        </p:sp>
      </p:grpSp>
      <p:grpSp>
        <p:nvGrpSpPr>
          <p:cNvPr name="Group 21" id="21"/>
          <p:cNvGrpSpPr/>
          <p:nvPr/>
        </p:nvGrpSpPr>
        <p:grpSpPr>
          <a:xfrm rot="0">
            <a:off x="4321286" y="3752187"/>
            <a:ext cx="4917050" cy="5506113"/>
            <a:chOff x="0" y="0"/>
            <a:chExt cx="6350000" cy="7110730"/>
          </a:xfrm>
        </p:grpSpPr>
        <p:sp>
          <p:nvSpPr>
            <p:cNvPr name="Freeform 22" id="22"/>
            <p:cNvSpPr/>
            <p:nvPr/>
          </p:nvSpPr>
          <p:spPr>
            <a:xfrm flipH="false" flipV="false" rot="0">
              <a:off x="0" y="0"/>
              <a:ext cx="6350000" cy="7110730"/>
            </a:xfrm>
            <a:custGeom>
              <a:avLst/>
              <a:gdLst/>
              <a:ahLst/>
              <a:cxnLst/>
              <a:rect r="r" b="b" t="t" l="l"/>
              <a:pathLst>
                <a:path h="7110730" w="6350000">
                  <a:moveTo>
                    <a:pt x="6350000" y="4700270"/>
                  </a:moveTo>
                  <a:lnTo>
                    <a:pt x="0" y="7110730"/>
                  </a:lnTo>
                  <a:lnTo>
                    <a:pt x="0" y="2410460"/>
                  </a:lnTo>
                  <a:lnTo>
                    <a:pt x="6350000" y="0"/>
                  </a:lnTo>
                  <a:close/>
                </a:path>
              </a:pathLst>
            </a:custGeom>
            <a:blipFill>
              <a:blip r:embed="rId4"/>
              <a:stretch>
                <a:fillRect l="-33880" t="0" r="-33880" b="0"/>
              </a:stretch>
            </a:blipFill>
          </p:spPr>
        </p:sp>
      </p:grpSp>
      <p:sp>
        <p:nvSpPr>
          <p:cNvPr name="TextBox 23" id="23"/>
          <p:cNvSpPr txBox="true"/>
          <p:nvPr/>
        </p:nvSpPr>
        <p:spPr>
          <a:xfrm rot="0">
            <a:off x="10733107" y="2457119"/>
            <a:ext cx="6313277" cy="1975485"/>
          </a:xfrm>
          <a:prstGeom prst="rect">
            <a:avLst/>
          </a:prstGeom>
        </p:spPr>
        <p:txBody>
          <a:bodyPr anchor="t" rtlCol="false" tIns="0" lIns="0" bIns="0" rIns="0">
            <a:spAutoFit/>
          </a:bodyPr>
          <a:lstStyle/>
          <a:p>
            <a:pPr algn="ctr">
              <a:lnSpc>
                <a:spcPts val="7770"/>
              </a:lnSpc>
            </a:pPr>
            <a:r>
              <a:rPr lang="en-US" sz="7000">
                <a:solidFill>
                  <a:srgbClr val="01EDFF"/>
                </a:solidFill>
                <a:latin typeface="AC Compacta"/>
              </a:rPr>
              <a:t>INFORMATION SHARING BEST PRACTICES</a:t>
            </a:r>
          </a:p>
        </p:txBody>
      </p:sp>
      <p:sp>
        <p:nvSpPr>
          <p:cNvPr name="TextBox 24" id="24"/>
          <p:cNvSpPr txBox="true"/>
          <p:nvPr/>
        </p:nvSpPr>
        <p:spPr>
          <a:xfrm rot="0">
            <a:off x="10311750" y="4705046"/>
            <a:ext cx="7155992" cy="2277111"/>
          </a:xfrm>
          <a:prstGeom prst="rect">
            <a:avLst/>
          </a:prstGeom>
        </p:spPr>
        <p:txBody>
          <a:bodyPr anchor="t" rtlCol="false" tIns="0" lIns="0" bIns="0" rIns="0">
            <a:spAutoFit/>
          </a:bodyPr>
          <a:lstStyle/>
          <a:p>
            <a:pPr algn="just">
              <a:lnSpc>
                <a:spcPts val="3639"/>
              </a:lnSpc>
              <a:spcBef>
                <a:spcPct val="0"/>
              </a:spcBef>
            </a:pPr>
            <a:r>
              <a:rPr lang="en-US" sz="2599">
                <a:solidFill>
                  <a:srgbClr val="FFFFFF"/>
                </a:solidFill>
                <a:latin typeface="Open Sans"/>
              </a:rPr>
              <a:t>Successful information sharing through MISP requires adherence to best practices. This includes ensuring data quality, maintaining privacy, and fostering a collaborative security community.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4413770" y="3355347"/>
            <a:ext cx="3141640" cy="3141640"/>
            <a:chOff x="0" y="0"/>
            <a:chExt cx="4188854" cy="4188854"/>
          </a:xfrm>
        </p:grpSpPr>
        <p:pic>
          <p:nvPicPr>
            <p:cNvPr name="Picture 13" id="13"/>
            <p:cNvPicPr>
              <a:picLocks noChangeAspect="true"/>
            </p:cNvPicPr>
            <p:nvPr/>
          </p:nvPicPr>
          <p:blipFill>
            <a:blip r:embed="rId3"/>
            <a:srcRect l="16640" t="0" r="16640" b="0"/>
            <a:stretch>
              <a:fillRect/>
            </a:stretch>
          </p:blipFill>
          <p:spPr>
            <a:xfrm flipH="false" flipV="false">
              <a:off x="0" y="0"/>
              <a:ext cx="4188854" cy="4188854"/>
            </a:xfrm>
            <a:prstGeom prst="rect">
              <a:avLst/>
            </a:prstGeom>
          </p:spPr>
        </p:pic>
      </p:grpSp>
      <p:grpSp>
        <p:nvGrpSpPr>
          <p:cNvPr name="Group 14" id="14"/>
          <p:cNvGrpSpPr/>
          <p:nvPr/>
        </p:nvGrpSpPr>
        <p:grpSpPr>
          <a:xfrm rot="0">
            <a:off x="10012649" y="3355347"/>
            <a:ext cx="3141640" cy="3141640"/>
            <a:chOff x="0" y="0"/>
            <a:chExt cx="4188854" cy="4188854"/>
          </a:xfrm>
        </p:grpSpPr>
        <p:pic>
          <p:nvPicPr>
            <p:cNvPr name="Picture 15" id="15"/>
            <p:cNvPicPr>
              <a:picLocks noChangeAspect="true"/>
            </p:cNvPicPr>
            <p:nvPr/>
          </p:nvPicPr>
          <p:blipFill>
            <a:blip r:embed="rId4"/>
            <a:srcRect l="0" t="0" r="0" b="0"/>
            <a:stretch>
              <a:fillRect/>
            </a:stretch>
          </p:blipFill>
          <p:spPr>
            <a:xfrm flipH="false" flipV="false">
              <a:off x="0" y="0"/>
              <a:ext cx="4188854" cy="4188854"/>
            </a:xfrm>
            <a:prstGeom prst="rect">
              <a:avLst/>
            </a:prstGeom>
          </p:spPr>
        </p:pic>
      </p:grpSp>
      <p:sp>
        <p:nvSpPr>
          <p:cNvPr name="TextBox 16" id="16"/>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7" id="17"/>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8" id="18"/>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9" id="19"/>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20" id="20"/>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sp>
        <p:nvSpPr>
          <p:cNvPr name="TextBox 21" id="21"/>
          <p:cNvSpPr txBox="true"/>
          <p:nvPr/>
        </p:nvSpPr>
        <p:spPr>
          <a:xfrm rot="0">
            <a:off x="4616830" y="6736808"/>
            <a:ext cx="2735520" cy="1099821"/>
          </a:xfrm>
          <a:prstGeom prst="rect">
            <a:avLst/>
          </a:prstGeom>
        </p:spPr>
        <p:txBody>
          <a:bodyPr anchor="t" rtlCol="false" tIns="0" lIns="0" bIns="0" rIns="0">
            <a:spAutoFit/>
          </a:bodyPr>
          <a:lstStyle/>
          <a:p>
            <a:pPr algn="ctr">
              <a:lnSpc>
                <a:spcPts val="4479"/>
              </a:lnSpc>
              <a:spcBef>
                <a:spcPct val="0"/>
              </a:spcBef>
            </a:pPr>
            <a:r>
              <a:rPr lang="en-US" sz="3199">
                <a:solidFill>
                  <a:srgbClr val="01EDFF"/>
                </a:solidFill>
                <a:latin typeface="Open Sans Bold"/>
              </a:rPr>
              <a:t>Alexandre Dulaunoy</a:t>
            </a:r>
          </a:p>
        </p:txBody>
      </p:sp>
      <p:sp>
        <p:nvSpPr>
          <p:cNvPr name="TextBox 22" id="22"/>
          <p:cNvSpPr txBox="true"/>
          <p:nvPr/>
        </p:nvSpPr>
        <p:spPr>
          <a:xfrm rot="0">
            <a:off x="10215709" y="6736808"/>
            <a:ext cx="2735520" cy="1099821"/>
          </a:xfrm>
          <a:prstGeom prst="rect">
            <a:avLst/>
          </a:prstGeom>
        </p:spPr>
        <p:txBody>
          <a:bodyPr anchor="t" rtlCol="false" tIns="0" lIns="0" bIns="0" rIns="0">
            <a:spAutoFit/>
          </a:bodyPr>
          <a:lstStyle/>
          <a:p>
            <a:pPr algn="ctr">
              <a:lnSpc>
                <a:spcPts val="4479"/>
              </a:lnSpc>
              <a:spcBef>
                <a:spcPct val="0"/>
              </a:spcBef>
            </a:pPr>
            <a:r>
              <a:rPr lang="en-US" sz="3199">
                <a:solidFill>
                  <a:srgbClr val="01EDFF"/>
                </a:solidFill>
                <a:latin typeface="Open Sans Bold"/>
              </a:rPr>
              <a:t>Andras Iklody</a:t>
            </a:r>
          </a:p>
        </p:txBody>
      </p:sp>
      <p:sp>
        <p:nvSpPr>
          <p:cNvPr name="TextBox 23" id="23"/>
          <p:cNvSpPr txBox="true"/>
          <p:nvPr/>
        </p:nvSpPr>
        <p:spPr>
          <a:xfrm rot="0">
            <a:off x="5984590" y="1434373"/>
            <a:ext cx="6318820" cy="994410"/>
          </a:xfrm>
          <a:prstGeom prst="rect">
            <a:avLst/>
          </a:prstGeom>
        </p:spPr>
        <p:txBody>
          <a:bodyPr anchor="t" rtlCol="false" tIns="0" lIns="0" bIns="0" rIns="0">
            <a:spAutoFit/>
          </a:bodyPr>
          <a:lstStyle/>
          <a:p>
            <a:pPr algn="ctr">
              <a:lnSpc>
                <a:spcPts val="7770"/>
              </a:lnSpc>
            </a:pPr>
            <a:r>
              <a:rPr lang="en-US" sz="7000">
                <a:solidFill>
                  <a:srgbClr val="01EDFF"/>
                </a:solidFill>
                <a:latin typeface="AC Compacta"/>
              </a:rPr>
              <a:t>INITIATED IN 2012</a:t>
            </a:r>
          </a:p>
        </p:txBody>
      </p:sp>
      <p:sp>
        <p:nvSpPr>
          <p:cNvPr name="TextBox 24" id="24"/>
          <p:cNvSpPr txBox="true"/>
          <p:nvPr/>
        </p:nvSpPr>
        <p:spPr>
          <a:xfrm rot="0">
            <a:off x="1686353" y="8124768"/>
            <a:ext cx="14915294" cy="1133532"/>
          </a:xfrm>
          <a:prstGeom prst="rect">
            <a:avLst/>
          </a:prstGeom>
        </p:spPr>
        <p:txBody>
          <a:bodyPr anchor="t" rtlCol="false" tIns="0" lIns="0" bIns="0" rIns="0">
            <a:spAutoFit/>
          </a:bodyPr>
          <a:lstStyle/>
          <a:p>
            <a:pPr algn="ctr">
              <a:lnSpc>
                <a:spcPts val="4567"/>
              </a:lnSpc>
            </a:pPr>
            <a:r>
              <a:rPr lang="en-US" sz="3262">
                <a:solidFill>
                  <a:srgbClr val="FFFFFF"/>
                </a:solidFill>
                <a:latin typeface="Canva Sans Bold"/>
              </a:rPr>
              <a:t>MISP was developed by the Luxembourg-based non-profit organization CIRCL (Computer Incident Response Center Luxembourg).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0" y="5318212"/>
            <a:ext cx="8763295" cy="4968788"/>
            <a:chOff x="0" y="0"/>
            <a:chExt cx="6350000" cy="3600450"/>
          </a:xfrm>
        </p:grpSpPr>
        <p:sp>
          <p:nvSpPr>
            <p:cNvPr name="Freeform 18" id="18"/>
            <p:cNvSpPr/>
            <p:nvPr/>
          </p:nvSpPr>
          <p:spPr>
            <a:xfrm flipH="false" flipV="false" rot="0">
              <a:off x="0" y="0"/>
              <a:ext cx="6350000" cy="3600450"/>
            </a:xfrm>
            <a:custGeom>
              <a:avLst/>
              <a:gdLst/>
              <a:ahLst/>
              <a:cxnLst/>
              <a:rect r="r" b="b" t="t" l="l"/>
              <a:pathLst>
                <a:path h="3600450" w="6350000">
                  <a:moveTo>
                    <a:pt x="0" y="0"/>
                  </a:moveTo>
                  <a:lnTo>
                    <a:pt x="5050790" y="0"/>
                  </a:lnTo>
                  <a:lnTo>
                    <a:pt x="6350000" y="1334770"/>
                  </a:lnTo>
                  <a:lnTo>
                    <a:pt x="6350000" y="3600450"/>
                  </a:lnTo>
                  <a:lnTo>
                    <a:pt x="0" y="3600450"/>
                  </a:lnTo>
                  <a:close/>
                </a:path>
              </a:pathLst>
            </a:custGeom>
            <a:blipFill>
              <a:blip r:embed="rId3"/>
              <a:stretch>
                <a:fillRect l="0" t="-3013" r="0" b="-14711"/>
              </a:stretch>
            </a:blipFill>
          </p:spPr>
        </p:sp>
      </p:grpSp>
      <p:sp>
        <p:nvSpPr>
          <p:cNvPr name="TextBox 19" id="19"/>
          <p:cNvSpPr txBox="true"/>
          <p:nvPr/>
        </p:nvSpPr>
        <p:spPr>
          <a:xfrm rot="0">
            <a:off x="2035150" y="2380868"/>
            <a:ext cx="5593625" cy="994410"/>
          </a:xfrm>
          <a:prstGeom prst="rect">
            <a:avLst/>
          </a:prstGeom>
        </p:spPr>
        <p:txBody>
          <a:bodyPr anchor="t" rtlCol="false" tIns="0" lIns="0" bIns="0" rIns="0">
            <a:spAutoFit/>
          </a:bodyPr>
          <a:lstStyle/>
          <a:p>
            <a:pPr>
              <a:lnSpc>
                <a:spcPts val="7770"/>
              </a:lnSpc>
            </a:pPr>
            <a:r>
              <a:rPr lang="en-US" sz="7000">
                <a:solidFill>
                  <a:srgbClr val="01EDFF"/>
                </a:solidFill>
                <a:latin typeface="AC Compacta"/>
              </a:rPr>
              <a:t>PROS</a:t>
            </a:r>
          </a:p>
        </p:txBody>
      </p:sp>
      <p:sp>
        <p:nvSpPr>
          <p:cNvPr name="TextBox 20" id="20"/>
          <p:cNvSpPr txBox="true"/>
          <p:nvPr/>
        </p:nvSpPr>
        <p:spPr>
          <a:xfrm rot="0">
            <a:off x="10540741" y="1935294"/>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MISP fosters collaboration among security practitioners, enabling the sharing of threat intelligence within trusted communities and enhancing collective defense capabilities.</a:t>
            </a:r>
          </a:p>
        </p:txBody>
      </p:sp>
      <p:sp>
        <p:nvSpPr>
          <p:cNvPr name="TextBox 21" id="21"/>
          <p:cNvSpPr txBox="true"/>
          <p:nvPr/>
        </p:nvSpPr>
        <p:spPr>
          <a:xfrm rot="0">
            <a:off x="10540741" y="1426619"/>
            <a:ext cx="4337942"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Community Collaboration:</a:t>
            </a:r>
          </a:p>
        </p:txBody>
      </p:sp>
      <p:sp>
        <p:nvSpPr>
          <p:cNvPr name="TextBox 22" id="22"/>
          <p:cNvSpPr txBox="true"/>
          <p:nvPr/>
        </p:nvSpPr>
        <p:spPr>
          <a:xfrm rot="0">
            <a:off x="10540741" y="3424711"/>
            <a:ext cx="5889332" cy="735965"/>
          </a:xfrm>
          <a:prstGeom prst="rect">
            <a:avLst/>
          </a:prstGeom>
        </p:spPr>
        <p:txBody>
          <a:bodyPr anchor="t" rtlCol="false" tIns="0" lIns="0" bIns="0" rIns="0">
            <a:spAutoFit/>
          </a:bodyPr>
          <a:lstStyle/>
          <a:p>
            <a:pPr algn="just">
              <a:lnSpc>
                <a:spcPts val="1960"/>
              </a:lnSpc>
            </a:pPr>
            <a:r>
              <a:rPr lang="en-US" sz="1400">
                <a:solidFill>
                  <a:srgbClr val="FFFFFF"/>
                </a:solidFill>
                <a:latin typeface="Open Sans"/>
              </a:rPr>
              <a:t>It offers a high degree of customization, allowing organizations to tailor the platform to their specific needs, workflows, and data sources.</a:t>
            </a:r>
          </a:p>
          <a:p>
            <a:pPr algn="just">
              <a:lnSpc>
                <a:spcPts val="1960"/>
              </a:lnSpc>
              <a:spcBef>
                <a:spcPct val="0"/>
              </a:spcBef>
            </a:pPr>
          </a:p>
        </p:txBody>
      </p:sp>
      <p:sp>
        <p:nvSpPr>
          <p:cNvPr name="TextBox 23" id="23"/>
          <p:cNvSpPr txBox="true"/>
          <p:nvPr/>
        </p:nvSpPr>
        <p:spPr>
          <a:xfrm rot="0">
            <a:off x="10540741" y="2916036"/>
            <a:ext cx="4337942"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Customization and Flexibility:</a:t>
            </a:r>
          </a:p>
        </p:txBody>
      </p:sp>
      <p:sp>
        <p:nvSpPr>
          <p:cNvPr name="TextBox 24" id="24"/>
          <p:cNvSpPr txBox="true"/>
          <p:nvPr/>
        </p:nvSpPr>
        <p:spPr>
          <a:xfrm rot="0">
            <a:off x="10540741" y="4769234"/>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MISP uses a standardized data model for sharing threat intelligence, ensuring consistency and interoperability across different organizations and platforms.</a:t>
            </a:r>
          </a:p>
        </p:txBody>
      </p:sp>
      <p:sp>
        <p:nvSpPr>
          <p:cNvPr name="TextBox 25" id="25"/>
          <p:cNvSpPr txBox="true"/>
          <p:nvPr/>
        </p:nvSpPr>
        <p:spPr>
          <a:xfrm rot="0">
            <a:off x="10540741" y="4260559"/>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Structured Data Sharing:</a:t>
            </a:r>
          </a:p>
        </p:txBody>
      </p:sp>
      <p:sp>
        <p:nvSpPr>
          <p:cNvPr name="TextBox 26" id="26"/>
          <p:cNvSpPr txBox="true"/>
          <p:nvPr/>
        </p:nvSpPr>
        <p:spPr>
          <a:xfrm rot="0">
            <a:off x="10540741" y="6365778"/>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It supports integration with various security tools and platforms, enabling seamless data exchange and interoperability within existing security infrastructures.</a:t>
            </a:r>
          </a:p>
        </p:txBody>
      </p:sp>
      <p:sp>
        <p:nvSpPr>
          <p:cNvPr name="TextBox 27" id="27"/>
          <p:cNvSpPr txBox="true"/>
          <p:nvPr/>
        </p:nvSpPr>
        <p:spPr>
          <a:xfrm rot="0">
            <a:off x="10540741" y="5857103"/>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Integration Capabilities:</a:t>
            </a:r>
          </a:p>
        </p:txBody>
      </p:sp>
      <p:sp>
        <p:nvSpPr>
          <p:cNvPr name="TextBox 28" id="28"/>
          <p:cNvSpPr txBox="true"/>
          <p:nvPr/>
        </p:nvSpPr>
        <p:spPr>
          <a:xfrm rot="0">
            <a:off x="10540741" y="7962843"/>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MISP can scale to accommodate large volumes of threat intelligence data, making it suitable for both small organizations and large enterprises.</a:t>
            </a:r>
          </a:p>
        </p:txBody>
      </p:sp>
      <p:sp>
        <p:nvSpPr>
          <p:cNvPr name="TextBox 29" id="29"/>
          <p:cNvSpPr txBox="true"/>
          <p:nvPr/>
        </p:nvSpPr>
        <p:spPr>
          <a:xfrm rot="0">
            <a:off x="10540741" y="7454168"/>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Scalability: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0" y="5318212"/>
            <a:ext cx="8763295" cy="4968788"/>
            <a:chOff x="0" y="0"/>
            <a:chExt cx="6350000" cy="3600450"/>
          </a:xfrm>
        </p:grpSpPr>
        <p:sp>
          <p:nvSpPr>
            <p:cNvPr name="Freeform 18" id="18"/>
            <p:cNvSpPr/>
            <p:nvPr/>
          </p:nvSpPr>
          <p:spPr>
            <a:xfrm flipH="false" flipV="false" rot="0">
              <a:off x="0" y="0"/>
              <a:ext cx="6350000" cy="3600450"/>
            </a:xfrm>
            <a:custGeom>
              <a:avLst/>
              <a:gdLst/>
              <a:ahLst/>
              <a:cxnLst/>
              <a:rect r="r" b="b" t="t" l="l"/>
              <a:pathLst>
                <a:path h="3600450" w="6350000">
                  <a:moveTo>
                    <a:pt x="0" y="0"/>
                  </a:moveTo>
                  <a:lnTo>
                    <a:pt x="5050790" y="0"/>
                  </a:lnTo>
                  <a:lnTo>
                    <a:pt x="6350000" y="1334770"/>
                  </a:lnTo>
                  <a:lnTo>
                    <a:pt x="6350000" y="3600450"/>
                  </a:lnTo>
                  <a:lnTo>
                    <a:pt x="0" y="3600450"/>
                  </a:lnTo>
                  <a:close/>
                </a:path>
              </a:pathLst>
            </a:custGeom>
            <a:blipFill>
              <a:blip r:embed="rId3"/>
              <a:stretch>
                <a:fillRect l="0" t="-3013" r="0" b="-14711"/>
              </a:stretch>
            </a:blipFill>
          </p:spPr>
        </p:sp>
      </p:grpSp>
      <p:sp>
        <p:nvSpPr>
          <p:cNvPr name="TextBox 19" id="19"/>
          <p:cNvSpPr txBox="true"/>
          <p:nvPr/>
        </p:nvSpPr>
        <p:spPr>
          <a:xfrm rot="0">
            <a:off x="2035150" y="2380868"/>
            <a:ext cx="5593625" cy="994410"/>
          </a:xfrm>
          <a:prstGeom prst="rect">
            <a:avLst/>
          </a:prstGeom>
        </p:spPr>
        <p:txBody>
          <a:bodyPr anchor="t" rtlCol="false" tIns="0" lIns="0" bIns="0" rIns="0">
            <a:spAutoFit/>
          </a:bodyPr>
          <a:lstStyle/>
          <a:p>
            <a:pPr>
              <a:lnSpc>
                <a:spcPts val="7770"/>
              </a:lnSpc>
            </a:pPr>
            <a:r>
              <a:rPr lang="en-US" sz="7000">
                <a:solidFill>
                  <a:srgbClr val="01EDFF"/>
                </a:solidFill>
                <a:latin typeface="AC Compacta"/>
              </a:rPr>
              <a:t>CONS</a:t>
            </a:r>
          </a:p>
        </p:txBody>
      </p:sp>
      <p:sp>
        <p:nvSpPr>
          <p:cNvPr name="TextBox 20" id="20"/>
          <p:cNvSpPr txBox="true"/>
          <p:nvPr/>
        </p:nvSpPr>
        <p:spPr>
          <a:xfrm rot="0">
            <a:off x="10540741" y="1935294"/>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Setting up and configuring MISP can be complex, especially for organizations with limited resources or expertise in threat intelligence management.</a:t>
            </a:r>
          </a:p>
        </p:txBody>
      </p:sp>
      <p:sp>
        <p:nvSpPr>
          <p:cNvPr name="TextBox 21" id="21"/>
          <p:cNvSpPr txBox="true"/>
          <p:nvPr/>
        </p:nvSpPr>
        <p:spPr>
          <a:xfrm rot="0">
            <a:off x="10540741" y="1426619"/>
            <a:ext cx="4337942"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Complexity:</a:t>
            </a:r>
          </a:p>
        </p:txBody>
      </p:sp>
      <p:sp>
        <p:nvSpPr>
          <p:cNvPr name="TextBox 22" id="22"/>
          <p:cNvSpPr txBox="true"/>
          <p:nvPr/>
        </p:nvSpPr>
        <p:spPr>
          <a:xfrm rot="0">
            <a:off x="10540741" y="3424711"/>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Running and maintaining a MISP instance can be resource-intensive, requiring dedicated hardware, storage, and personnel to ensure optimal performance and security.</a:t>
            </a:r>
          </a:p>
        </p:txBody>
      </p:sp>
      <p:sp>
        <p:nvSpPr>
          <p:cNvPr name="TextBox 23" id="23"/>
          <p:cNvSpPr txBox="true"/>
          <p:nvPr/>
        </p:nvSpPr>
        <p:spPr>
          <a:xfrm rot="0">
            <a:off x="10540741" y="2916036"/>
            <a:ext cx="4337942"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Resource Intensive:</a:t>
            </a:r>
          </a:p>
        </p:txBody>
      </p:sp>
      <p:sp>
        <p:nvSpPr>
          <p:cNvPr name="TextBox 24" id="24"/>
          <p:cNvSpPr txBox="true"/>
          <p:nvPr/>
        </p:nvSpPr>
        <p:spPr>
          <a:xfrm rot="0">
            <a:off x="10540741" y="4769234"/>
            <a:ext cx="5889332" cy="983615"/>
          </a:xfrm>
          <a:prstGeom prst="rect">
            <a:avLst/>
          </a:prstGeom>
        </p:spPr>
        <p:txBody>
          <a:bodyPr anchor="t" rtlCol="false" tIns="0" lIns="0" bIns="0" rIns="0">
            <a:spAutoFit/>
          </a:bodyPr>
          <a:lstStyle/>
          <a:p>
            <a:pPr algn="just">
              <a:lnSpc>
                <a:spcPts val="1960"/>
              </a:lnSpc>
            </a:pPr>
            <a:r>
              <a:rPr lang="en-US" sz="1400">
                <a:solidFill>
                  <a:srgbClr val="FFFFFF"/>
                </a:solidFill>
                <a:latin typeface="Open Sans"/>
              </a:rPr>
              <a:t>Sharing sensitive threat intelligence data through MISP raises privacy concerns, particularly regarding the sharing of personally identifiable information (PII) or sensitive business information.</a:t>
            </a:r>
          </a:p>
          <a:p>
            <a:pPr algn="just">
              <a:lnSpc>
                <a:spcPts val="1960"/>
              </a:lnSpc>
              <a:spcBef>
                <a:spcPct val="0"/>
              </a:spcBef>
            </a:pPr>
          </a:p>
        </p:txBody>
      </p:sp>
      <p:sp>
        <p:nvSpPr>
          <p:cNvPr name="TextBox 25" id="25"/>
          <p:cNvSpPr txBox="true"/>
          <p:nvPr/>
        </p:nvSpPr>
        <p:spPr>
          <a:xfrm rot="0">
            <a:off x="10540741" y="4262504"/>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Privacy Concerns:</a:t>
            </a:r>
          </a:p>
        </p:txBody>
      </p:sp>
      <p:sp>
        <p:nvSpPr>
          <p:cNvPr name="TextBox 26" id="26"/>
          <p:cNvSpPr txBox="true"/>
          <p:nvPr/>
        </p:nvSpPr>
        <p:spPr>
          <a:xfrm rot="0">
            <a:off x="10540741" y="6365778"/>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Trust is essential in threat intelligence sharing, and organizations must carefully vet their partners and communities to ensure the reliability and credibility of shared intelligence.</a:t>
            </a:r>
          </a:p>
        </p:txBody>
      </p:sp>
      <p:sp>
        <p:nvSpPr>
          <p:cNvPr name="TextBox 27" id="27"/>
          <p:cNvSpPr txBox="true"/>
          <p:nvPr/>
        </p:nvSpPr>
        <p:spPr>
          <a:xfrm rot="0">
            <a:off x="10540741" y="5857103"/>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Community Trust:</a:t>
            </a:r>
          </a:p>
        </p:txBody>
      </p:sp>
      <p:sp>
        <p:nvSpPr>
          <p:cNvPr name="TextBox 28" id="28"/>
          <p:cNvSpPr txBox="true"/>
          <p:nvPr/>
        </p:nvSpPr>
        <p:spPr>
          <a:xfrm rot="0">
            <a:off x="10540741" y="7962843"/>
            <a:ext cx="5889332" cy="735965"/>
          </a:xfrm>
          <a:prstGeom prst="rect">
            <a:avLst/>
          </a:prstGeom>
        </p:spPr>
        <p:txBody>
          <a:bodyPr anchor="t" rtlCol="false" tIns="0" lIns="0" bIns="0" rIns="0">
            <a:spAutoFit/>
          </a:bodyPr>
          <a:lstStyle/>
          <a:p>
            <a:pPr algn="just">
              <a:lnSpc>
                <a:spcPts val="1960"/>
              </a:lnSpc>
              <a:spcBef>
                <a:spcPct val="0"/>
              </a:spcBef>
            </a:pPr>
            <a:r>
              <a:rPr lang="en-US" sz="1400">
                <a:solidFill>
                  <a:srgbClr val="FFFFFF"/>
                </a:solidFill>
                <a:latin typeface="Open Sans"/>
              </a:rPr>
              <a:t>Effectively leveraging MISP requires expertise in threat intelligence analysis, data management, and cybersecurity, which may be challenging for organizations with limited skilled personnel.</a:t>
            </a:r>
          </a:p>
        </p:txBody>
      </p:sp>
      <p:sp>
        <p:nvSpPr>
          <p:cNvPr name="TextBox 29" id="29"/>
          <p:cNvSpPr txBox="true"/>
          <p:nvPr/>
        </p:nvSpPr>
        <p:spPr>
          <a:xfrm rot="0">
            <a:off x="10540741" y="7454168"/>
            <a:ext cx="3312394" cy="297180"/>
          </a:xfrm>
          <a:prstGeom prst="rect">
            <a:avLst/>
          </a:prstGeom>
        </p:spPr>
        <p:txBody>
          <a:bodyPr anchor="t" rtlCol="false" tIns="0" lIns="0" bIns="0" rIns="0">
            <a:spAutoFit/>
          </a:bodyPr>
          <a:lstStyle/>
          <a:p>
            <a:pPr>
              <a:lnSpc>
                <a:spcPts val="2519"/>
              </a:lnSpc>
              <a:spcBef>
                <a:spcPct val="0"/>
              </a:spcBef>
            </a:pPr>
            <a:r>
              <a:rPr lang="en-US" sz="1799">
                <a:solidFill>
                  <a:srgbClr val="01EDFF"/>
                </a:solidFill>
                <a:latin typeface="Open Sans Bold"/>
              </a:rPr>
              <a:t>Skill Requirements: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8900064" y="1031985"/>
            <a:ext cx="4532864" cy="8229600"/>
            <a:chOff x="0" y="0"/>
            <a:chExt cx="3497580" cy="6350000"/>
          </a:xfrm>
        </p:grpSpPr>
        <p:sp>
          <p:nvSpPr>
            <p:cNvPr name="Freeform 18" id="18"/>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34605" t="0" r="-138407" b="0"/>
              </a:stretch>
            </a:blipFill>
          </p:spPr>
        </p:sp>
      </p:grpSp>
      <p:grpSp>
        <p:nvGrpSpPr>
          <p:cNvPr name="Group 19" id="19"/>
          <p:cNvGrpSpPr/>
          <p:nvPr/>
        </p:nvGrpSpPr>
        <p:grpSpPr>
          <a:xfrm rot="0">
            <a:off x="12748715" y="1033449"/>
            <a:ext cx="4532864" cy="8229600"/>
            <a:chOff x="0" y="0"/>
            <a:chExt cx="3497580" cy="6350000"/>
          </a:xfrm>
        </p:grpSpPr>
        <p:sp>
          <p:nvSpPr>
            <p:cNvPr name="Freeform 20" id="20"/>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119001" t="0" r="-54012" b="0"/>
              </a:stretch>
            </a:blipFill>
          </p:spPr>
        </p:sp>
      </p:grpSp>
      <p:grpSp>
        <p:nvGrpSpPr>
          <p:cNvPr name="Group 21" id="21"/>
          <p:cNvGrpSpPr/>
          <p:nvPr/>
        </p:nvGrpSpPr>
        <p:grpSpPr>
          <a:xfrm rot="0">
            <a:off x="16571769" y="1033449"/>
            <a:ext cx="4532864" cy="8229600"/>
            <a:chOff x="0" y="0"/>
            <a:chExt cx="3497580" cy="6350000"/>
          </a:xfrm>
        </p:grpSpPr>
        <p:sp>
          <p:nvSpPr>
            <p:cNvPr name="Freeform 22" id="22"/>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solidFill>
              <a:srgbClr val="01EDFF"/>
            </a:solidFill>
            <a:ln w="12700">
              <a:solidFill>
                <a:srgbClr val="000000"/>
              </a:solidFill>
            </a:ln>
          </p:spPr>
        </p:sp>
      </p:grpSp>
      <p:sp>
        <p:nvSpPr>
          <p:cNvPr name="TextBox 23" id="23"/>
          <p:cNvSpPr txBox="true"/>
          <p:nvPr/>
        </p:nvSpPr>
        <p:spPr>
          <a:xfrm rot="0">
            <a:off x="2224377" y="1639970"/>
            <a:ext cx="4529838" cy="1975485"/>
          </a:xfrm>
          <a:prstGeom prst="rect">
            <a:avLst/>
          </a:prstGeom>
        </p:spPr>
        <p:txBody>
          <a:bodyPr anchor="t" rtlCol="false" tIns="0" lIns="0" bIns="0" rIns="0">
            <a:spAutoFit/>
          </a:bodyPr>
          <a:lstStyle/>
          <a:p>
            <a:pPr>
              <a:lnSpc>
                <a:spcPts val="7770"/>
              </a:lnSpc>
            </a:pPr>
            <a:r>
              <a:rPr lang="en-US" sz="7000">
                <a:solidFill>
                  <a:srgbClr val="01EDFF"/>
                </a:solidFill>
                <a:latin typeface="AC Compacta"/>
              </a:rPr>
              <a:t>CHALLENGES AND CONSIDERATIONS</a:t>
            </a:r>
          </a:p>
        </p:txBody>
      </p:sp>
      <p:sp>
        <p:nvSpPr>
          <p:cNvPr name="TextBox 24" id="24"/>
          <p:cNvSpPr txBox="true"/>
          <p:nvPr/>
        </p:nvSpPr>
        <p:spPr>
          <a:xfrm rot="0">
            <a:off x="514350" y="4123394"/>
            <a:ext cx="8385714" cy="4246029"/>
          </a:xfrm>
          <a:prstGeom prst="rect">
            <a:avLst/>
          </a:prstGeom>
        </p:spPr>
        <p:txBody>
          <a:bodyPr anchor="t" rtlCol="false" tIns="0" lIns="0" bIns="0" rIns="0">
            <a:spAutoFit/>
          </a:bodyPr>
          <a:lstStyle/>
          <a:p>
            <a:pPr algn="just">
              <a:lnSpc>
                <a:spcPts val="4841"/>
              </a:lnSpc>
            </a:pPr>
            <a:r>
              <a:rPr lang="en-US" sz="3458">
                <a:solidFill>
                  <a:srgbClr val="FFFFFF"/>
                </a:solidFill>
                <a:latin typeface="Canva Sans Bold"/>
              </a:rPr>
              <a:t>While MISP offers significant benefits, organizations must also navigate challenges such as data accuracy, privacy concerns, and the need for ongoing collaboration. Understanding these considerations is crucial for successful implementation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8900064" y="1031985"/>
            <a:ext cx="4532864" cy="8229600"/>
            <a:chOff x="0" y="0"/>
            <a:chExt cx="3497580" cy="6350000"/>
          </a:xfrm>
        </p:grpSpPr>
        <p:sp>
          <p:nvSpPr>
            <p:cNvPr name="Freeform 18" id="18"/>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34605" t="0" r="-138407" b="0"/>
              </a:stretch>
            </a:blipFill>
          </p:spPr>
        </p:sp>
      </p:grpSp>
      <p:grpSp>
        <p:nvGrpSpPr>
          <p:cNvPr name="Group 19" id="19"/>
          <p:cNvGrpSpPr/>
          <p:nvPr/>
        </p:nvGrpSpPr>
        <p:grpSpPr>
          <a:xfrm rot="0">
            <a:off x="12748715" y="1033449"/>
            <a:ext cx="4532864" cy="8229600"/>
            <a:chOff x="0" y="0"/>
            <a:chExt cx="3497580" cy="6350000"/>
          </a:xfrm>
        </p:grpSpPr>
        <p:sp>
          <p:nvSpPr>
            <p:cNvPr name="Freeform 20" id="20"/>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119001" t="0" r="-54012" b="0"/>
              </a:stretch>
            </a:blipFill>
          </p:spPr>
        </p:sp>
      </p:grpSp>
      <p:grpSp>
        <p:nvGrpSpPr>
          <p:cNvPr name="Group 21" id="21"/>
          <p:cNvGrpSpPr/>
          <p:nvPr/>
        </p:nvGrpSpPr>
        <p:grpSpPr>
          <a:xfrm rot="0">
            <a:off x="16571769" y="1033449"/>
            <a:ext cx="4532864" cy="8229600"/>
            <a:chOff x="0" y="0"/>
            <a:chExt cx="3497580" cy="6350000"/>
          </a:xfrm>
        </p:grpSpPr>
        <p:sp>
          <p:nvSpPr>
            <p:cNvPr name="Freeform 22" id="22"/>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solidFill>
              <a:srgbClr val="01EDFF"/>
            </a:solidFill>
            <a:ln w="12700">
              <a:solidFill>
                <a:srgbClr val="000000"/>
              </a:solidFill>
            </a:ln>
          </p:spPr>
        </p:sp>
      </p:grpSp>
      <p:sp>
        <p:nvSpPr>
          <p:cNvPr name="TextBox 23" id="23"/>
          <p:cNvSpPr txBox="true"/>
          <p:nvPr/>
        </p:nvSpPr>
        <p:spPr>
          <a:xfrm rot="0">
            <a:off x="514350" y="4113869"/>
            <a:ext cx="8385714" cy="3637699"/>
          </a:xfrm>
          <a:prstGeom prst="rect">
            <a:avLst/>
          </a:prstGeom>
        </p:spPr>
        <p:txBody>
          <a:bodyPr anchor="t" rtlCol="false" tIns="0" lIns="0" bIns="0" rIns="0">
            <a:spAutoFit/>
          </a:bodyPr>
          <a:lstStyle/>
          <a:p>
            <a:pPr algn="just">
              <a:lnSpc>
                <a:spcPts val="5821"/>
              </a:lnSpc>
            </a:pPr>
            <a:r>
              <a:rPr lang="en-US" sz="4158">
                <a:solidFill>
                  <a:srgbClr val="FFFFFF"/>
                </a:solidFill>
                <a:latin typeface="Canva Sans Bold"/>
              </a:rPr>
              <a:t>sudo apt-get update</a:t>
            </a:r>
          </a:p>
          <a:p>
            <a:pPr algn="just">
              <a:lnSpc>
                <a:spcPts val="5821"/>
              </a:lnSpc>
            </a:pPr>
            <a:r>
              <a:rPr lang="en-US" sz="4158">
                <a:solidFill>
                  <a:srgbClr val="FFFFFF"/>
                </a:solidFill>
                <a:latin typeface="Canva Sans Bold"/>
              </a:rPr>
              <a:t>sudo apt install docker.io</a:t>
            </a:r>
          </a:p>
          <a:p>
            <a:pPr algn="just">
              <a:lnSpc>
                <a:spcPts val="5821"/>
              </a:lnSpc>
            </a:pPr>
            <a:r>
              <a:rPr lang="en-US" sz="4158">
                <a:solidFill>
                  <a:srgbClr val="FFFFFF"/>
                </a:solidFill>
                <a:latin typeface="Canva Sans Bold"/>
              </a:rPr>
              <a:t>sudo apt install podman-docker</a:t>
            </a:r>
          </a:p>
          <a:p>
            <a:pPr algn="just">
              <a:lnSpc>
                <a:spcPts val="5821"/>
              </a:lnSpc>
            </a:pPr>
            <a:r>
              <a:rPr lang="en-US" sz="4158">
                <a:solidFill>
                  <a:srgbClr val="FFFFFF"/>
                </a:solidFill>
                <a:latin typeface="Canva Sans Bold"/>
              </a:rPr>
              <a:t>localhost</a:t>
            </a:r>
          </a:p>
          <a:p>
            <a:pPr algn="just">
              <a:lnSpc>
                <a:spcPts val="5821"/>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9039225" y="1038225"/>
            <a:ext cx="8220075" cy="8220075"/>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6350000" y="0"/>
                  </a:moveTo>
                  <a:lnTo>
                    <a:pt x="6350000" y="6350000"/>
                  </a:lnTo>
                  <a:lnTo>
                    <a:pt x="1224280" y="6350000"/>
                  </a:lnTo>
                  <a:lnTo>
                    <a:pt x="0" y="0"/>
                  </a:lnTo>
                  <a:close/>
                </a:path>
              </a:pathLst>
            </a:custGeom>
            <a:blipFill>
              <a:blip r:embed="rId3"/>
              <a:stretch>
                <a:fillRect l="-18327" t="0" r="-31766" b="0"/>
              </a:stretch>
            </a:blipFill>
          </p:spPr>
        </p:sp>
      </p:grpSp>
      <p:grpSp>
        <p:nvGrpSpPr>
          <p:cNvPr name="Group 19" id="19"/>
          <p:cNvGrpSpPr/>
          <p:nvPr/>
        </p:nvGrpSpPr>
        <p:grpSpPr>
          <a:xfrm rot="0">
            <a:off x="17499312" y="1038225"/>
            <a:ext cx="788688" cy="8220075"/>
            <a:chOff x="0" y="0"/>
            <a:chExt cx="623161" cy="6494874"/>
          </a:xfrm>
        </p:grpSpPr>
        <p:sp>
          <p:nvSpPr>
            <p:cNvPr name="Freeform 20" id="20"/>
            <p:cNvSpPr/>
            <p:nvPr/>
          </p:nvSpPr>
          <p:spPr>
            <a:xfrm flipH="false" flipV="false" rot="0">
              <a:off x="0" y="0"/>
              <a:ext cx="623161" cy="6494874"/>
            </a:xfrm>
            <a:custGeom>
              <a:avLst/>
              <a:gdLst/>
              <a:ahLst/>
              <a:cxnLst/>
              <a:rect r="r" b="b" t="t" l="l"/>
              <a:pathLst>
                <a:path h="6494874" w="623161">
                  <a:moveTo>
                    <a:pt x="0" y="0"/>
                  </a:moveTo>
                  <a:lnTo>
                    <a:pt x="623161" y="0"/>
                  </a:lnTo>
                  <a:lnTo>
                    <a:pt x="623161" y="6494874"/>
                  </a:lnTo>
                  <a:lnTo>
                    <a:pt x="0" y="6494874"/>
                  </a:lnTo>
                  <a:close/>
                </a:path>
              </a:pathLst>
            </a:custGeom>
            <a:solidFill>
              <a:srgbClr val="01EDFF"/>
            </a:solidFill>
            <a:ln cap="sq">
              <a:noFill/>
              <a:prstDash val="solid"/>
              <a:miter/>
            </a:ln>
          </p:spPr>
        </p:sp>
        <p:sp>
          <p:nvSpPr>
            <p:cNvPr name="TextBox 21" id="21"/>
            <p:cNvSpPr txBox="true"/>
            <p:nvPr/>
          </p:nvSpPr>
          <p:spPr>
            <a:xfrm>
              <a:off x="0" y="-38100"/>
              <a:ext cx="623161" cy="653297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1958430" y="2594008"/>
            <a:ext cx="6067560" cy="1910331"/>
          </a:xfrm>
          <a:prstGeom prst="rect">
            <a:avLst/>
          </a:prstGeom>
        </p:spPr>
        <p:txBody>
          <a:bodyPr anchor="t" rtlCol="false" tIns="0" lIns="0" bIns="0" rIns="0">
            <a:spAutoFit/>
          </a:bodyPr>
          <a:lstStyle/>
          <a:p>
            <a:pPr>
              <a:lnSpc>
                <a:spcPts val="14756"/>
              </a:lnSpc>
            </a:pPr>
            <a:r>
              <a:rPr lang="en-US" sz="13293">
                <a:solidFill>
                  <a:srgbClr val="01EDFF"/>
                </a:solidFill>
                <a:latin typeface="AC Compacta"/>
              </a:rPr>
              <a:t>CONCLUSION</a:t>
            </a:r>
          </a:p>
        </p:txBody>
      </p:sp>
      <p:sp>
        <p:nvSpPr>
          <p:cNvPr name="TextBox 23" id="23"/>
          <p:cNvSpPr txBox="true"/>
          <p:nvPr/>
        </p:nvSpPr>
        <p:spPr>
          <a:xfrm rot="0">
            <a:off x="1958430" y="4953340"/>
            <a:ext cx="6842670" cy="3051176"/>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Open Sans"/>
              </a:rPr>
              <a:t>In conclusion, leveraging MISP for threat intelligence and information sharing is a valuable strategy for enhancing security measures. By embracing collaboration and best practices, organizations can strengthen their defenses and better protect against evolving cyber threats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300629" y="534081"/>
            <a:ext cx="397367" cy="28996"/>
            <a:chOff x="0" y="0"/>
            <a:chExt cx="128243" cy="9358"/>
          </a:xfrm>
        </p:grpSpPr>
        <p:sp>
          <p:nvSpPr>
            <p:cNvPr name="Freeform 4" id="4"/>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5" id="5"/>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300629" y="626184"/>
            <a:ext cx="397367" cy="28996"/>
            <a:chOff x="0" y="0"/>
            <a:chExt cx="128243" cy="9358"/>
          </a:xfrm>
        </p:grpSpPr>
        <p:sp>
          <p:nvSpPr>
            <p:cNvPr name="Freeform 7" id="7"/>
            <p:cNvSpPr/>
            <p:nvPr/>
          </p:nvSpPr>
          <p:spPr>
            <a:xfrm flipH="false" flipV="false" rot="0">
              <a:off x="0" y="0"/>
              <a:ext cx="128243" cy="9358"/>
            </a:xfrm>
            <a:custGeom>
              <a:avLst/>
              <a:gdLst/>
              <a:ahLst/>
              <a:cxnLst/>
              <a:rect r="r" b="b" t="t" l="l"/>
              <a:pathLst>
                <a:path h="9358" w="128243">
                  <a:moveTo>
                    <a:pt x="0" y="0"/>
                  </a:moveTo>
                  <a:lnTo>
                    <a:pt x="128243" y="0"/>
                  </a:lnTo>
                  <a:lnTo>
                    <a:pt x="128243" y="9358"/>
                  </a:lnTo>
                  <a:lnTo>
                    <a:pt x="0" y="9358"/>
                  </a:lnTo>
                  <a:close/>
                </a:path>
              </a:pathLst>
            </a:custGeom>
            <a:solidFill>
              <a:srgbClr val="01EDFF"/>
            </a:solidFill>
          </p:spPr>
        </p:sp>
        <p:sp>
          <p:nvSpPr>
            <p:cNvPr name="TextBox 8" id="8"/>
            <p:cNvSpPr txBox="true"/>
            <p:nvPr/>
          </p:nvSpPr>
          <p:spPr>
            <a:xfrm>
              <a:off x="0" y="-38100"/>
              <a:ext cx="128243" cy="47458"/>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0" y="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1EDFF"/>
            </a:solidFill>
            <a:ln cap="sq">
              <a:noFill/>
              <a:prstDash val="solid"/>
              <a:miter/>
            </a:ln>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15940842" y="486120"/>
            <a:ext cx="9784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Contact</a:t>
            </a:r>
          </a:p>
        </p:txBody>
      </p:sp>
      <p:sp>
        <p:nvSpPr>
          <p:cNvPr name="TextBox 13" id="13"/>
          <p:cNvSpPr txBox="true"/>
          <p:nvPr/>
        </p:nvSpPr>
        <p:spPr>
          <a:xfrm rot="0">
            <a:off x="14385046" y="486120"/>
            <a:ext cx="1060497"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About Us</a:t>
            </a:r>
          </a:p>
        </p:txBody>
      </p:sp>
      <p:sp>
        <p:nvSpPr>
          <p:cNvPr name="TextBox 14" id="14"/>
          <p:cNvSpPr txBox="true"/>
          <p:nvPr/>
        </p:nvSpPr>
        <p:spPr>
          <a:xfrm rot="0">
            <a:off x="13154289" y="486120"/>
            <a:ext cx="735456"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Service</a:t>
            </a:r>
          </a:p>
        </p:txBody>
      </p:sp>
      <p:sp>
        <p:nvSpPr>
          <p:cNvPr name="TextBox 15" id="15"/>
          <p:cNvSpPr txBox="true"/>
          <p:nvPr/>
        </p:nvSpPr>
        <p:spPr>
          <a:xfrm rot="0">
            <a:off x="11898530" y="491225"/>
            <a:ext cx="809760" cy="197971"/>
          </a:xfrm>
          <a:prstGeom prst="rect">
            <a:avLst/>
          </a:prstGeom>
        </p:spPr>
        <p:txBody>
          <a:bodyPr anchor="t" rtlCol="false" tIns="0" lIns="0" bIns="0" rIns="0">
            <a:spAutoFit/>
          </a:bodyPr>
          <a:lstStyle/>
          <a:p>
            <a:pPr>
              <a:lnSpc>
                <a:spcPts val="1680"/>
              </a:lnSpc>
              <a:spcBef>
                <a:spcPct val="0"/>
              </a:spcBef>
            </a:pPr>
            <a:r>
              <a:rPr lang="en-US" sz="1200">
                <a:solidFill>
                  <a:srgbClr val="FFFFFF"/>
                </a:solidFill>
                <a:latin typeface="Open Sans"/>
              </a:rPr>
              <a:t>Home</a:t>
            </a:r>
          </a:p>
        </p:txBody>
      </p:sp>
      <p:sp>
        <p:nvSpPr>
          <p:cNvPr name="TextBox 16" id="16"/>
          <p:cNvSpPr txBox="true"/>
          <p:nvPr/>
        </p:nvSpPr>
        <p:spPr>
          <a:xfrm rot="0">
            <a:off x="15445542" y="9586788"/>
            <a:ext cx="2252453" cy="197971"/>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rPr>
              <a:t>www.reallygreatsite.com</a:t>
            </a:r>
          </a:p>
        </p:txBody>
      </p:sp>
      <p:grpSp>
        <p:nvGrpSpPr>
          <p:cNvPr name="Group 17" id="17"/>
          <p:cNvGrpSpPr/>
          <p:nvPr/>
        </p:nvGrpSpPr>
        <p:grpSpPr>
          <a:xfrm rot="0">
            <a:off x="3003475" y="0"/>
            <a:ext cx="5666080" cy="10287000"/>
            <a:chOff x="0" y="0"/>
            <a:chExt cx="3497580" cy="6350000"/>
          </a:xfrm>
        </p:grpSpPr>
        <p:sp>
          <p:nvSpPr>
            <p:cNvPr name="Freeform 18" id="18"/>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10480" t="0" r="-10480" b="0"/>
              </a:stretch>
            </a:blipFill>
          </p:spPr>
        </p:sp>
      </p:grpSp>
      <p:sp>
        <p:nvSpPr>
          <p:cNvPr name="TextBox 19" id="19"/>
          <p:cNvSpPr txBox="true"/>
          <p:nvPr/>
        </p:nvSpPr>
        <p:spPr>
          <a:xfrm rot="0">
            <a:off x="8088176" y="1844222"/>
            <a:ext cx="9240227" cy="6798581"/>
          </a:xfrm>
          <a:prstGeom prst="rect">
            <a:avLst/>
          </a:prstGeom>
        </p:spPr>
        <p:txBody>
          <a:bodyPr anchor="t" rtlCol="false" tIns="0" lIns="0" bIns="0" rIns="0">
            <a:spAutoFit/>
          </a:bodyPr>
          <a:lstStyle/>
          <a:p>
            <a:pPr algn="ctr">
              <a:lnSpc>
                <a:spcPts val="26480"/>
              </a:lnSpc>
            </a:pPr>
            <a:r>
              <a:rPr lang="en-US" sz="23855">
                <a:solidFill>
                  <a:srgbClr val="01EDFF"/>
                </a:solidFill>
                <a:latin typeface="AC Compact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DAGCNVOGeGs</dc:identifier>
  <dcterms:modified xsi:type="dcterms:W3CDTF">2011-08-01T06:04:30Z</dcterms:modified>
  <cp:revision>1</cp:revision>
  <dc:title>MISP - Threat Intelligence and information sharing</dc:title>
</cp:coreProperties>
</file>